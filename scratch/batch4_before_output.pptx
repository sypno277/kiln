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10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  <Relationship Id="rId102" Type="http://schemas.openxmlformats.org/officeDocument/2006/relationships/slide" Target="slides/slide2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/>
          <p:cNvSpPr txBox="1"/>
          <p:nvPr/>
        </p:nvSpPr>
        <p:spPr>
          <a:xfrm>
            <a:off x="508000" y="406400"/>
            <a:ext cx="6387846" cy="279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2000" b="1" i="0">
                <a:latin typeface="Arial"/>
                <a:solidFill>
                  <a:srgbClr val="1A264C"/>
                </a:solidFill>
              </a:rPr>
              <a:t>Batch 4 Color Fidelity and Schema Audit Document</a:t>
            </a:r>
          </a:p>
        </p:txBody>
      </p:sp>
      <p:sp>
        <p:nvSpPr>
          <p:cNvPr id="3" name="Item 4"/>
          <p:cNvSpPr txBox="1"/>
          <p:nvPr/>
        </p:nvSpPr>
        <p:spPr>
          <a:xfrm>
            <a:off x="508000" y="939800"/>
            <a:ext cx="4506227" cy="1905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300" b="1" i="0">
                <a:latin typeface="Times New Roman"/>
                <a:solidFill>
                  <a:srgbClr val="1A1A1A"/>
                </a:solidFill>
              </a:rPr>
              <a:t>1. Security Verification Notice (DeviceRGB Red Color Space)</a:t>
            </a:r>
          </a:p>
        </p:txBody>
      </p:sp>
      <p:sp>
        <p:nvSpPr>
          <p:cNvPr id="4" name="Item 5"/>
          <p:cNvSpPr txBox="1"/>
          <p:nvPr/>
        </p:nvSpPr>
        <p:spPr>
          <a:xfrm>
            <a:off x="508000" y="1358900"/>
            <a:ext cx="5230114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CRITICAL WARNING: The security parameters for production authorization must be</a:t>
            </a:r>
          </a:p>
        </p:txBody>
      </p:sp>
      <p:sp>
        <p:nvSpPr>
          <p:cNvPr id="5" name="Item 6"/>
          <p:cNvSpPr txBox="1"/>
          <p:nvPr/>
        </p:nvSpPr>
        <p:spPr>
          <a:xfrm>
            <a:off x="508000" y="1587500"/>
            <a:ext cx="5146802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verified immediately by compliance engineers before session tokens expire today.</a:t>
            </a:r>
          </a:p>
        </p:txBody>
      </p:sp>
      <p:sp>
        <p:nvSpPr>
          <p:cNvPr id="6" name="Item 7"/>
          <p:cNvSpPr txBox="1"/>
          <p:nvPr/>
        </p:nvSpPr>
        <p:spPr>
          <a:xfrm>
            <a:off x="508000" y="1816100"/>
            <a:ext cx="4963160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Immediate revocation of all unencrypted API credentials is mandated across all</a:t>
            </a:r>
          </a:p>
        </p:txBody>
      </p:sp>
      <p:sp>
        <p:nvSpPr>
          <p:cNvPr id="7" name="Item 8"/>
          <p:cNvSpPr txBox="1"/>
          <p:nvPr/>
        </p:nvSpPr>
        <p:spPr>
          <a:xfrm>
            <a:off x="508000" y="2044700"/>
            <a:ext cx="5224145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active development nodes to prevent unauthorized secondary access to databases.</a:t>
            </a:r>
          </a:p>
        </p:txBody>
      </p:sp>
      <p:sp>
        <p:nvSpPr>
          <p:cNvPr id="8" name="Item 9"/>
          <p:cNvSpPr txBox="1"/>
          <p:nvPr/>
        </p:nvSpPr>
        <p:spPr>
          <a:xfrm>
            <a:off x="508000" y="2273300"/>
            <a:ext cx="4899025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Ensure TLS configurations are enforced on every outbound network interface.</a:t>
            </a:r>
          </a:p>
        </p:txBody>
      </p:sp>
      <p:sp>
        <p:nvSpPr>
          <p:cNvPr id="9" name="Item 10"/>
          <p:cNvSpPr txBox="1"/>
          <p:nvPr/>
        </p:nvSpPr>
        <p:spPr>
          <a:xfrm>
            <a:off x="508000" y="2679700"/>
            <a:ext cx="5610479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latin typeface="Arial"/>
                <a:solidFill>
                  <a:srgbClr val="2173AB"/>
                </a:solidFill>
              </a:rPr>
              <a:t>This standard paragraph is rendered using an authentic DeviceCMYK color space definition.</a:t>
            </a:r>
          </a:p>
        </p:txBody>
      </p:sp>
      <p:sp>
        <p:nvSpPr>
          <p:cNvPr id="10" name="Item 11"/>
          <p:cNvSpPr txBox="1"/>
          <p:nvPr/>
        </p:nvSpPr>
        <p:spPr>
          <a:xfrm>
            <a:off x="508000" y="2933700"/>
            <a:ext cx="4699432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latin typeface="Times New Roman"/>
                <a:solidFill>
                  <a:srgbClr val="404040"/>
                </a:solidFill>
              </a:rPr>
              <a:t>This paragraph is rendered using an authentic DeviceGray neutral tone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/>
          <p:cNvSpPr txBox="1"/>
          <p:nvPr/>
        </p:nvSpPr>
        <p:spPr>
          <a:xfrm>
            <a:off x="508000" y="431800"/>
            <a:ext cx="5690718" cy="2540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800" b="1" i="0">
                <a:latin typeface="Arial"/>
                <a:solidFill>
                  <a:srgbClr val="1A264C"/>
                </a:solidFill>
              </a:rPr>
              <a:t>2. Compliance Protocols &amp; Audit Findings (Page 2)</a:t>
            </a:r>
          </a:p>
        </p:txBody>
      </p:sp>
      <p:sp>
        <p:nvSpPr>
          <p:cNvPr id="3" name="Item 4"/>
          <p:cNvSpPr txBox="1"/>
          <p:nvPr/>
        </p:nvSpPr>
        <p:spPr>
          <a:xfrm>
            <a:off x="508000" y="977900"/>
            <a:ext cx="5576443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PROTOCOL BREACH ALERT: The secondary audit team discovered unauthorized access</a:t>
            </a:r>
          </a:p>
        </p:txBody>
      </p:sp>
      <p:sp>
        <p:nvSpPr>
          <p:cNvPr id="4" name="Item 5"/>
          <p:cNvSpPr txBox="1"/>
          <p:nvPr/>
        </p:nvSpPr>
        <p:spPr>
          <a:xfrm>
            <a:off x="508000" y="1206500"/>
            <a:ext cx="5061331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attempts directed toward the cryptographic key cluster during routine diagnostic</a:t>
            </a:r>
          </a:p>
        </p:txBody>
      </p:sp>
      <p:sp>
        <p:nvSpPr>
          <p:cNvPr id="5" name="Item 6"/>
          <p:cNvSpPr txBox="1"/>
          <p:nvPr/>
        </p:nvSpPr>
        <p:spPr>
          <a:xfrm>
            <a:off x="508000" y="1435100"/>
            <a:ext cx="5294630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maintenance windows yesterday evening. Remediation protocols have been initiated</a:t>
            </a:r>
          </a:p>
        </p:txBody>
      </p:sp>
      <p:sp>
        <p:nvSpPr>
          <p:cNvPr id="6" name="Item 7"/>
          <p:cNvSpPr txBox="1"/>
          <p:nvPr/>
        </p:nvSpPr>
        <p:spPr>
          <a:xfrm>
            <a:off x="508000" y="1663700"/>
            <a:ext cx="4758309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across all operational regions to isolate affected endpoints and review logs.</a:t>
            </a:r>
          </a:p>
        </p:txBody>
      </p:sp>
      <p:sp>
        <p:nvSpPr>
          <p:cNvPr id="7" name="Item 8"/>
          <p:cNvSpPr txBox="1"/>
          <p:nvPr/>
        </p:nvSpPr>
        <p:spPr>
          <a:xfrm>
            <a:off x="508000" y="1892300"/>
            <a:ext cx="5026279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latin typeface="Arial"/>
                <a:solidFill>
                  <a:srgbClr val="E01C47"/>
                </a:solidFill>
              </a:rPr>
              <a:t>Zero deviations from the security framework are permitted under federal statute.</a:t>
            </a:r>
          </a:p>
        </p:txBody>
      </p:sp>
      <p:sp>
        <p:nvSpPr>
          <p:cNvPr id="8" name="Item 9"/>
          <p:cNvSpPr txBox="1"/>
          <p:nvPr/>
        </p:nvSpPr>
        <p:spPr>
          <a:xfrm>
            <a:off x="508000" y="2362200"/>
            <a:ext cx="6281496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latin typeface="Times New Roman"/>
                <a:solidFill>
                  <a:srgbClr val="333333"/>
                </a:solidFill>
              </a:rPr>
              <a:t>All secondary systems have completed automated diagnostic routines without encountering unhandled exceptions.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
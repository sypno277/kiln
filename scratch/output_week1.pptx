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102"/>
    <p:sldId id="258" r:id="rId103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  <Relationship Id="rId102" Type="http://schemas.openxmlformats.org/officeDocument/2006/relationships/slide" Target="slides/slide2.xml"/>
  <Relationship Id="rId103" Type="http://schemas.openxmlformats.org/officeDocument/2006/relationships/slide" Target="slides/slide3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F1DD5-0CAD-B20A-4453-DD1709AE5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75EBC-85D6-5867-1834-A50201ACA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D1B1-1369-3860-0480-BD555575F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ADF9-99B8-9D2C-ABDC-D160B48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76CF2-5607-FA4F-A6D2-251C0EC1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87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DC52-8B39-B87E-6321-0E75A61A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99E3A-9EC8-4EDB-A9B4-B7AE403D2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FFE82-B7D0-8CCA-7239-B3C0BFE3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D0CB1-C28A-1EA4-75DA-F1690B11B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9FA09-B3A3-059E-6EB6-D6973ABB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162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45F-08FE-83D1-E9B7-30A46692B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EC557-5974-9D58-153F-47A63E95C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48F0-AE00-F07C-2FCB-A3A3BE12B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CE0B0-3402-E558-EB18-54D766E5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D9ABF-5579-31CA-E68B-2FBA691EF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9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4AAD-38FC-D8F2-1BD8-DF172CD08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3BC8-2159-F7DE-1D64-71DE88E5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822D5-7E8E-BD02-1F2E-32628790C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65710-043F-F650-7E9A-E6592C884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6AD5E-7583-7B23-7727-16162E97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C21AA-24B7-D708-4FA8-8BD5C6684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8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BAC2-A1BA-73C4-01A9-4055C738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324E6-E398-7696-BF96-754873B48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9C9E1-9787-0912-6FA7-376D67C3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2FBDE-9B81-D193-FF96-1792B2C47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CFED2-CD1F-F169-8DF8-78AB96C34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9D82B-AEAE-7D7C-2DBA-D7E9371C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AC4F9-1C86-A7A2-5F80-89E4DD44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2918D-EAEF-06F2-9988-658F0427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64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57FE-162B-3479-236C-4E9F27B9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42CD-8FC0-82EA-44D2-6374378D1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B238F-B71C-FCA5-CC94-B02E766F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D18BE0-8CA3-EF90-6217-2798E62F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53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02817-24E8-2A2E-133F-7EA42034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A5ED1-14EC-F716-536E-1504CAA9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A853E-F1C7-1F43-3FA0-12765FB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3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EB94E-3480-8323-25B9-67B46EA21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C196F-42B2-6D39-993D-4AF060EC2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0FDF2-5EDC-C3C8-8E55-2943619B7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963CD-2A24-42EE-D906-F8EE8081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BE7F3-E279-5433-A357-55E05ACC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40F5E-C592-9710-7ED0-19E6DA61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3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14EB-A835-1A13-7709-5C349C60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CBFC1-F506-A9C2-AD3B-C7E026B88E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7F148-B96A-FA51-B7B1-84A9D53F1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6CFE-F660-3AC4-6B00-9C1575F54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5DB72-EE54-F3AC-AB6B-318DE3F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55661-ED84-3D54-3E70-027B9F74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63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6873-9778-8CCF-BFA4-121C3FE9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8292-8192-9AAA-BCC7-6C377915B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92E68-41EB-F3A6-F025-F2207099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A90A9-B227-14EE-AACC-C10836B84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6B16F-F7FA-BF76-65A5-76D4624E6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59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0F521D-B6EF-9DC9-3EC6-8D23545AF6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C01AD1-44C3-EF03-76D6-EA4CAFF8D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389F2-FD7A-CF5A-86FB-9D5FC911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D6BC-493E-B4DA-3305-BEEB9A0E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79F50-FA2A-3F5B-7C49-38F6228D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68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C6E37-2D43-72B1-04EE-66065B46F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9538-7A10-16A8-6A5B-0ED70DED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A440-5032-F8BA-AF4C-DB16A1763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79003-A7E7-4C3E-BDB1-0DE476668AC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0D7EA-0DA8-2A6F-9773-F729991D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491D9-99B7-CF40-24D5-9A27A4904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C99E-70CB-42F0-93A7-2FDB648281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46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3" data-pipeline-marker="batch0_proven"/>
          <p:cNvSpPr txBox="1"/>
          <p:nvPr/>
        </p:nvSpPr>
        <p:spPr>
          <a:xfrm>
            <a:off x="914400" y="448537"/>
            <a:ext cx="1807815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Week-1 Solution Sheet:  </a:t>
            </a:r>
          </a:p>
        </p:txBody>
      </p:sp>
      <p:sp>
        <p:nvSpPr>
          <p:cNvPr id="3" name="Item 4" data-pipeline-marker="batch0_proven"/>
          <p:cNvSpPr txBox="1"/>
          <p:nvPr/>
        </p:nvSpPr>
        <p:spPr>
          <a:xfrm>
            <a:off x="914400" y="633275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4" name="Item 5" data-pipeline-marker="batch0_proven"/>
          <p:cNvSpPr txBox="1"/>
          <p:nvPr/>
        </p:nvSpPr>
        <p:spPr>
          <a:xfrm>
            <a:off x="1143000" y="818012"/>
            <a:ext cx="6276365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What does the “Systemic Safety” strategy in the Disaster Risk Equation primarily aim to </a:t>
            </a:r>
          </a:p>
        </p:txBody>
      </p:sp>
      <p:sp>
        <p:nvSpPr>
          <p:cNvPr id="5" name="Item 6" data-pipeline-marker="batch0_proven"/>
          <p:cNvSpPr txBox="1"/>
          <p:nvPr/>
        </p:nvSpPr>
        <p:spPr>
          <a:xfrm>
            <a:off x="1371600" y="1002750"/>
            <a:ext cx="81463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achieve?  </a:t>
            </a:r>
          </a:p>
        </p:txBody>
      </p:sp>
      <p:sp>
        <p:nvSpPr>
          <p:cNvPr id="6" name="Item 7" data-pipeline-marker="batch0_proven"/>
          <p:cNvSpPr txBox="1"/>
          <p:nvPr/>
        </p:nvSpPr>
        <p:spPr>
          <a:xfrm>
            <a:off x="1600200" y="1187487"/>
            <a:ext cx="466003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 Improve a specific model’s ability to withstand external hazards </a:t>
            </a:r>
          </a:p>
        </p:txBody>
      </p:sp>
      <p:sp>
        <p:nvSpPr>
          <p:cNvPr id="7" name="Item 8" data-pipeline-marker="batch0_proven"/>
          <p:cNvSpPr txBox="1"/>
          <p:nvPr/>
        </p:nvSpPr>
        <p:spPr>
          <a:xfrm>
            <a:off x="1600200" y="1372225"/>
            <a:ext cx="406072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 Identify and avoid hazards through real-time monitoring </a:t>
            </a:r>
          </a:p>
        </p:txBody>
      </p:sp>
      <p:sp>
        <p:nvSpPr>
          <p:cNvPr id="8" name="Item 9" data-pipeline-marker="batch0_proven"/>
          <p:cNvSpPr txBox="1"/>
          <p:nvPr/>
        </p:nvSpPr>
        <p:spPr>
          <a:xfrm>
            <a:off x="1600200" y="1556962"/>
            <a:ext cx="556445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c. Reduce the likelihood of conflict and overall systemic risks in the environment  </a:t>
            </a:r>
          </a:p>
        </p:txBody>
      </p:sp>
      <p:sp>
        <p:nvSpPr>
          <p:cNvPr id="9" name="Item 10" data-pipeline-marker="batch0_proven"/>
          <p:cNvSpPr txBox="1"/>
          <p:nvPr/>
        </p:nvSpPr>
        <p:spPr>
          <a:xfrm>
            <a:off x="1600200" y="1741700"/>
            <a:ext cx="301101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Align an agent’s goals with human values </a:t>
            </a:r>
          </a:p>
        </p:txBody>
      </p:sp>
      <p:sp>
        <p:nvSpPr>
          <p:cNvPr id="10" name="Item 11" data-pipeline-marker="batch0_proven"/>
          <p:cNvSpPr txBox="1"/>
          <p:nvPr/>
        </p:nvSpPr>
        <p:spPr>
          <a:xfrm>
            <a:off x="1828800" y="1926437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1" name="Item 12" data-pipeline-marker="batch0_proven"/>
          <p:cNvSpPr txBox="1"/>
          <p:nvPr/>
        </p:nvSpPr>
        <p:spPr>
          <a:xfrm>
            <a:off x="1371600" y="2111175"/>
            <a:ext cx="562620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Risk Part 3 [34:02-34:55] - We can look at the risk equation as a </a:t>
            </a:r>
          </a:p>
        </p:txBody>
      </p:sp>
      <p:sp>
        <p:nvSpPr>
          <p:cNvPr id="12" name="Item 13" data-pipeline-marker="batch0_proven"/>
          <p:cNvSpPr txBox="1"/>
          <p:nvPr/>
        </p:nvSpPr>
        <p:spPr>
          <a:xfrm>
            <a:off x="1371600" y="2295913"/>
            <a:ext cx="445663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"systemic” safety, which in turn can generally reduce the risks. </a:t>
            </a:r>
          </a:p>
        </p:txBody>
      </p:sp>
      <p:sp>
        <p:nvSpPr>
          <p:cNvPr id="13" name="Item 14" data-pipeline-marker="batch0_proven"/>
          <p:cNvSpPr txBox="1"/>
          <p:nvPr/>
        </p:nvSpPr>
        <p:spPr>
          <a:xfrm>
            <a:off x="1828800" y="2480650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4" name="Item 15" data-pipeline-marker="batch0_proven"/>
          <p:cNvSpPr txBox="1"/>
          <p:nvPr/>
        </p:nvSpPr>
        <p:spPr>
          <a:xfrm>
            <a:off x="1143000" y="2665388"/>
            <a:ext cx="613834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In the context of “Deceptive Alignment,” what is the primary concern regarding model </a:t>
            </a:r>
          </a:p>
        </p:txBody>
      </p:sp>
      <p:sp>
        <p:nvSpPr>
          <p:cNvPr id="15" name="Item 16" data-pipeline-marker="batch0_proven"/>
          <p:cNvSpPr txBox="1"/>
          <p:nvPr/>
        </p:nvSpPr>
        <p:spPr>
          <a:xfrm>
            <a:off x="1371600" y="2850125"/>
            <a:ext cx="869001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behavior?  </a:t>
            </a:r>
          </a:p>
        </p:txBody>
      </p:sp>
      <p:sp>
        <p:nvSpPr>
          <p:cNvPr id="16" name="Item 17" data-pipeline-marker="batch0_proven"/>
          <p:cNvSpPr txBox="1"/>
          <p:nvPr/>
        </p:nvSpPr>
        <p:spPr>
          <a:xfrm>
            <a:off x="1600200" y="3034863"/>
            <a:ext cx="524845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a. The model appears to follow safety guidelines during training but pursues </a:t>
            </a:r>
          </a:p>
        </p:txBody>
      </p:sp>
      <p:sp>
        <p:nvSpPr>
          <p:cNvPr id="17" name="Item 18" data-pipeline-marker="batch0_proven"/>
          <p:cNvSpPr txBox="1"/>
          <p:nvPr/>
        </p:nvSpPr>
        <p:spPr>
          <a:xfrm>
            <a:off x="1828800" y="3219600"/>
            <a:ext cx="2306371" cy="178387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different goals after deployment  </a:t>
            </a:r>
          </a:p>
        </p:txBody>
      </p:sp>
      <p:sp>
        <p:nvSpPr>
          <p:cNvPr id="18" name="Item 19" data-pipeline-marker="batch0_proven"/>
          <p:cNvSpPr txBox="1"/>
          <p:nvPr/>
        </p:nvSpPr>
        <p:spPr>
          <a:xfrm>
            <a:off x="1600200" y="3404338"/>
            <a:ext cx="557898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 The model cannot understand human language due to environmental differences  </a:t>
            </a:r>
          </a:p>
        </p:txBody>
      </p:sp>
      <p:sp>
        <p:nvSpPr>
          <p:cNvPr id="19" name="Item 20" data-pipeline-marker="batch0_proven"/>
          <p:cNvSpPr txBox="1"/>
          <p:nvPr/>
        </p:nvSpPr>
        <p:spPr>
          <a:xfrm>
            <a:off x="1600200" y="3589076"/>
            <a:ext cx="460555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The model accidentally deletes critical memory during deployment  </a:t>
            </a:r>
          </a:p>
        </p:txBody>
      </p:sp>
      <p:sp>
        <p:nvSpPr>
          <p:cNvPr id="20" name="Item 21" data-pipeline-marker="batch0_proven"/>
          <p:cNvSpPr txBox="1"/>
          <p:nvPr/>
        </p:nvSpPr>
        <p:spPr>
          <a:xfrm>
            <a:off x="1600200" y="3773813"/>
            <a:ext cx="485254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The model’s safeguards are easily bypassed by simple user prompts  </a:t>
            </a:r>
          </a:p>
        </p:txBody>
      </p:sp>
      <p:sp>
        <p:nvSpPr>
          <p:cNvPr id="21" name="Item 22" data-pipeline-marker="batch0_proven"/>
          <p:cNvSpPr txBox="1"/>
          <p:nvPr/>
        </p:nvSpPr>
        <p:spPr>
          <a:xfrm>
            <a:off x="1828800" y="3958551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2" name="Item 23" data-pipeline-marker="batch0_proven"/>
          <p:cNvSpPr txBox="1"/>
          <p:nvPr/>
        </p:nvSpPr>
        <p:spPr>
          <a:xfrm>
            <a:off x="1371600" y="4143288"/>
            <a:ext cx="5466385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Risk Part 4 [23:34-24:23] - Deceptive alignment is shown by the </a:t>
            </a:r>
          </a:p>
        </p:txBody>
      </p:sp>
      <p:sp>
        <p:nvSpPr>
          <p:cNvPr id="23" name="Item 24" data-pipeline-marker="batch0_proven"/>
          <p:cNvSpPr txBox="1"/>
          <p:nvPr/>
        </p:nvSpPr>
        <p:spPr>
          <a:xfrm>
            <a:off x="1371600" y="4328026"/>
            <a:ext cx="621098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 as the model appearing to grab the ball/asnwer a specific way but later doesn’t. </a:t>
            </a:r>
          </a:p>
        </p:txBody>
      </p:sp>
      <p:sp>
        <p:nvSpPr>
          <p:cNvPr id="24" name="Item 25" data-pipeline-marker="batch0_proven"/>
          <p:cNvSpPr txBox="1"/>
          <p:nvPr/>
        </p:nvSpPr>
        <p:spPr>
          <a:xfrm>
            <a:off x="1828800" y="4512763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5" name="Item 26" data-pipeline-marker="batch0_proven"/>
          <p:cNvSpPr txBox="1"/>
          <p:nvPr/>
        </p:nvSpPr>
        <p:spPr>
          <a:xfrm>
            <a:off x="1143000" y="4697501"/>
            <a:ext cx="570974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According to the lecture, why is “proxy gaming” considered a failure mode in AI </a:t>
            </a:r>
          </a:p>
        </p:txBody>
      </p:sp>
      <p:sp>
        <p:nvSpPr>
          <p:cNvPr id="26" name="Item 27" data-pipeline-marker="batch0_proven"/>
          <p:cNvSpPr txBox="1"/>
          <p:nvPr/>
        </p:nvSpPr>
        <p:spPr>
          <a:xfrm>
            <a:off x="1371600" y="4882238"/>
            <a:ext cx="845400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systems?  </a:t>
            </a:r>
          </a:p>
        </p:txBody>
      </p:sp>
      <p:sp>
        <p:nvSpPr>
          <p:cNvPr id="27" name="Item 28" data-pipeline-marker="batch0_proven"/>
          <p:cNvSpPr txBox="1"/>
          <p:nvPr/>
        </p:nvSpPr>
        <p:spPr>
          <a:xfrm>
            <a:off x="1600200" y="5066976"/>
            <a:ext cx="543006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a. Agents over-optimize fault metrics, producing outcomes misaligned with true </a:t>
            </a:r>
          </a:p>
        </p:txBody>
      </p:sp>
      <p:sp>
        <p:nvSpPr>
          <p:cNvPr id="28" name="Item 29" data-pipeline-marker="batch0_proven"/>
          <p:cNvSpPr txBox="1"/>
          <p:nvPr/>
        </p:nvSpPr>
        <p:spPr>
          <a:xfrm>
            <a:off x="1828800" y="5251714"/>
            <a:ext cx="1125209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human values  </a:t>
            </a:r>
          </a:p>
        </p:txBody>
      </p:sp>
      <p:sp>
        <p:nvSpPr>
          <p:cNvPr id="29" name="Item 30" data-pipeline-marker="batch0_proven"/>
          <p:cNvSpPr txBox="1"/>
          <p:nvPr/>
        </p:nvSpPr>
        <p:spPr>
          <a:xfrm>
            <a:off x="1600200" y="5436451"/>
            <a:ext cx="4925187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 AI systems consume excessive computational resources unnecessarily  </a:t>
            </a:r>
          </a:p>
        </p:txBody>
      </p:sp>
      <p:sp>
        <p:nvSpPr>
          <p:cNvPr id="30" name="Item 31" data-pipeline-marker="batch0_proven"/>
          <p:cNvSpPr txBox="1"/>
          <p:nvPr/>
        </p:nvSpPr>
        <p:spPr>
          <a:xfrm>
            <a:off x="1600200" y="5621189"/>
            <a:ext cx="334881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AI systems are used to cheat in video games  </a:t>
            </a:r>
          </a:p>
        </p:txBody>
      </p:sp>
      <p:sp>
        <p:nvSpPr>
          <p:cNvPr id="31" name="Item 32" data-pipeline-marker="batch0_proven"/>
          <p:cNvSpPr txBox="1"/>
          <p:nvPr/>
        </p:nvSpPr>
        <p:spPr>
          <a:xfrm>
            <a:off x="1600200" y="5805926"/>
            <a:ext cx="454743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It results from hardware failure during large-scale simulations </a:t>
            </a:r>
          </a:p>
        </p:txBody>
      </p:sp>
      <p:sp>
        <p:nvSpPr>
          <p:cNvPr id="32" name="Item 33" data-pipeline-marker="batch0_proven"/>
          <p:cNvSpPr txBox="1"/>
          <p:nvPr/>
        </p:nvSpPr>
        <p:spPr>
          <a:xfrm>
            <a:off x="1828800" y="5990664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3" name="Item 34" data-pipeline-marker="batch0_proven"/>
          <p:cNvSpPr txBox="1"/>
          <p:nvPr/>
        </p:nvSpPr>
        <p:spPr>
          <a:xfrm>
            <a:off x="1371600" y="6175401"/>
            <a:ext cx="5934939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Risk Part 4 [20:26-22:17] - Future artificial agents could over-optimize </a:t>
            </a:r>
          </a:p>
        </p:txBody>
      </p:sp>
      <p:sp>
        <p:nvSpPr>
          <p:cNvPr id="34" name="Item 35" data-pipeline-marker="batch0_proven"/>
          <p:cNvSpPr txBox="1"/>
          <p:nvPr/>
        </p:nvSpPr>
        <p:spPr>
          <a:xfrm>
            <a:off x="1371600" y="6360139"/>
            <a:ext cx="559714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game faulty proxies, which could mean systems aggressively pursue goals and </a:t>
            </a:r>
          </a:p>
        </p:txBody>
      </p:sp>
      <p:sp>
        <p:nvSpPr>
          <p:cNvPr id="35" name="Item 36" data-pipeline-marker="batch0_proven"/>
          <p:cNvSpPr txBox="1"/>
          <p:nvPr/>
        </p:nvSpPr>
        <p:spPr>
          <a:xfrm>
            <a:off x="1371600" y="6544876"/>
            <a:ext cx="393359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 a world that is distinct from what humans value. </a:t>
            </a:r>
          </a:p>
        </p:txBody>
      </p:sp>
      <p:sp>
        <p:nvSpPr>
          <p:cNvPr id="36" name="Item 37" data-pipeline-marker="batch0_proven"/>
          <p:cNvSpPr txBox="1"/>
          <p:nvPr/>
        </p:nvSpPr>
        <p:spPr>
          <a:xfrm>
            <a:off x="1828800" y="6729614"/>
            <a:ext cx="25542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 </a:t>
            </a:r>
          </a:p>
        </p:txBody>
      </p:sp>
      <p:sp>
        <p:nvSpPr>
          <p:cNvPr id="37" name="Item 38" data-pipeline-marker="batch0_proven"/>
          <p:cNvSpPr txBox="1"/>
          <p:nvPr/>
        </p:nvSpPr>
        <p:spPr>
          <a:xfrm>
            <a:off x="1143000" y="6914352"/>
            <a:ext cx="617103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According to the lecture, why might AI systems develop an “instrumental incentive” to </a:t>
            </a:r>
          </a:p>
        </p:txBody>
      </p:sp>
      <p:sp>
        <p:nvSpPr>
          <p:cNvPr id="38" name="Item 39" data-pipeline-marker="batch0_proven"/>
          <p:cNvSpPr txBox="1"/>
          <p:nvPr/>
        </p:nvSpPr>
        <p:spPr>
          <a:xfrm>
            <a:off x="1371600" y="7099089"/>
            <a:ext cx="104751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seek power?  </a:t>
            </a:r>
          </a:p>
        </p:txBody>
      </p:sp>
      <p:sp>
        <p:nvSpPr>
          <p:cNvPr id="39" name="Item 40" data-pipeline-marker="batch0_proven"/>
          <p:cNvSpPr txBox="1"/>
          <p:nvPr/>
        </p:nvSpPr>
        <p:spPr>
          <a:xfrm>
            <a:off x="1600200" y="7283827"/>
            <a:ext cx="371566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 They are explicitly programmed to dominate humans </a:t>
            </a:r>
          </a:p>
        </p:txBody>
      </p:sp>
      <p:sp>
        <p:nvSpPr>
          <p:cNvPr id="40" name="Item 41" data-pipeline-marker="batch0_proven"/>
          <p:cNvSpPr txBox="1"/>
          <p:nvPr/>
        </p:nvSpPr>
        <p:spPr>
          <a:xfrm>
            <a:off x="1600200" y="7468564"/>
            <a:ext cx="485254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b. Power and resources help them pursue their goals more effectively </a:t>
            </a:r>
          </a:p>
        </p:txBody>
      </p:sp>
      <p:sp>
        <p:nvSpPr>
          <p:cNvPr id="41" name="Item 42" data-pipeline-marker="batch0_proven"/>
          <p:cNvSpPr txBox="1"/>
          <p:nvPr/>
        </p:nvSpPr>
        <p:spPr>
          <a:xfrm>
            <a:off x="1600200" y="7653302"/>
            <a:ext cx="414063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It is a biological byproduct of the neural network design  </a:t>
            </a:r>
          </a:p>
        </p:txBody>
      </p:sp>
      <p:sp>
        <p:nvSpPr>
          <p:cNvPr id="42" name="Item 43" data-pipeline-marker="batch0_proven"/>
          <p:cNvSpPr txBox="1"/>
          <p:nvPr/>
        </p:nvSpPr>
        <p:spPr>
          <a:xfrm>
            <a:off x="1600200" y="7838039"/>
            <a:ext cx="447479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They imitate human power-seeking behavior from training data </a:t>
            </a:r>
          </a:p>
        </p:txBody>
      </p:sp>
      <p:sp>
        <p:nvSpPr>
          <p:cNvPr id="43" name="Item 44" data-pipeline-marker="batch0_proven"/>
          <p:cNvSpPr txBox="1"/>
          <p:nvPr/>
        </p:nvSpPr>
        <p:spPr>
          <a:xfrm>
            <a:off x="1828800" y="8022777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44" name="Item 45" data-pipeline-marker="batch0_proven"/>
          <p:cNvSpPr txBox="1"/>
          <p:nvPr/>
        </p:nvSpPr>
        <p:spPr>
          <a:xfrm>
            <a:off x="1371600" y="8207515"/>
            <a:ext cx="5822340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Risk Part 4 [9:51-11:50] - By default, suitably strategic and intelligent </a:t>
            </a:r>
          </a:p>
        </p:txBody>
      </p:sp>
      <p:sp>
        <p:nvSpPr>
          <p:cNvPr id="45" name="Item 46" data-pipeline-marker="batch0_proven"/>
          <p:cNvSpPr txBox="1"/>
          <p:nvPr/>
        </p:nvSpPr>
        <p:spPr>
          <a:xfrm>
            <a:off x="1371600" y="8392252"/>
            <a:ext cx="5953100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agents, engaging in suitable types of planning, will have instrumental incentives to gain </a:t>
            </a:r>
          </a:p>
        </p:txBody>
      </p:sp>
      <p:sp>
        <p:nvSpPr>
          <p:cNvPr id="46" name="Item 47" data-pipeline-marker="batch0_proven"/>
          <p:cNvSpPr txBox="1"/>
          <p:nvPr/>
        </p:nvSpPr>
        <p:spPr>
          <a:xfrm>
            <a:off x="1371600" y="8576990"/>
            <a:ext cx="5647995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maintain various types of power, since this power will help them pursue their </a:t>
            </a:r>
          </a:p>
        </p:txBody>
      </p:sp>
      <p:sp>
        <p:nvSpPr>
          <p:cNvPr id="47" name="Item 48" data-pipeline-marker="batch0_proven"/>
          <p:cNvSpPr txBox="1"/>
          <p:nvPr/>
        </p:nvSpPr>
        <p:spPr>
          <a:xfrm>
            <a:off x="1371600" y="8761727"/>
            <a:ext cx="1975841" cy="178387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objectives more effectively. </a:t>
            </a:r>
          </a:p>
        </p:txBody>
      </p:sp>
      <p:sp>
        <p:nvSpPr>
          <p:cNvPr id="48" name="Item 49" data-pipeline-marker="batch0_proven"/>
          <p:cNvSpPr txBox="1"/>
          <p:nvPr/>
        </p:nvSpPr>
        <p:spPr>
          <a:xfrm>
            <a:off x="1828800" y="8946465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49" name="Item 50" data-pipeline-marker="batch0_proven"/>
          <p:cNvSpPr txBox="1"/>
          <p:nvPr/>
        </p:nvSpPr>
        <p:spPr>
          <a:xfrm>
            <a:off x="1143000" y="9131202"/>
            <a:ext cx="469635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What does the term “Treacherous Turns” refer to in AI safety?  </a:t>
            </a:r>
          </a:p>
        </p:txBody>
      </p:sp>
      <p:sp>
        <p:nvSpPr>
          <p:cNvPr id="50" name="Item 51" data-pipeline-marker="batch0_proven"/>
          <p:cNvSpPr txBox="1"/>
          <p:nvPr/>
        </p:nvSpPr>
        <p:spPr>
          <a:xfrm>
            <a:off x="1600200" y="9315940"/>
            <a:ext cx="2887523" cy="168275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 Failures caused by biased training data  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3" data-pipeline-marker="batch0_proven"/>
          <p:cNvSpPr txBox="1"/>
          <p:nvPr/>
        </p:nvSpPr>
        <p:spPr>
          <a:xfrm>
            <a:off x="1600200" y="448537"/>
            <a:ext cx="399534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b. A system behaving differently once sufficiently capable   </a:t>
            </a:r>
          </a:p>
        </p:txBody>
      </p:sp>
      <p:sp>
        <p:nvSpPr>
          <p:cNvPr id="3" name="Item 4" data-pipeline-marker="batch0_proven"/>
          <p:cNvSpPr txBox="1"/>
          <p:nvPr/>
        </p:nvSpPr>
        <p:spPr>
          <a:xfrm>
            <a:off x="1600200" y="633275"/>
            <a:ext cx="3287065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Intentional misuse of AI by malicious humans  </a:t>
            </a:r>
          </a:p>
        </p:txBody>
      </p:sp>
      <p:sp>
        <p:nvSpPr>
          <p:cNvPr id="4" name="Item 5" data-pipeline-marker="batch0_proven"/>
          <p:cNvSpPr txBox="1"/>
          <p:nvPr/>
        </p:nvSpPr>
        <p:spPr>
          <a:xfrm>
            <a:off x="1600200" y="818012"/>
            <a:ext cx="280761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Over-optimization of proxy objectives  </a:t>
            </a:r>
          </a:p>
        </p:txBody>
      </p:sp>
      <p:sp>
        <p:nvSpPr>
          <p:cNvPr id="5" name="Item 6" data-pipeline-marker="batch0_proven"/>
          <p:cNvSpPr txBox="1"/>
          <p:nvPr/>
        </p:nvSpPr>
        <p:spPr>
          <a:xfrm>
            <a:off x="1371600" y="1002750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6" name="Item 7" data-pipeline-marker="batch0_proven"/>
          <p:cNvSpPr txBox="1"/>
          <p:nvPr/>
        </p:nvSpPr>
        <p:spPr>
          <a:xfrm>
            <a:off x="1371600" y="1187487"/>
            <a:ext cx="595673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Risk Part 4 [22:18-23:34] - AI could behave differently once it has the </a:t>
            </a:r>
          </a:p>
        </p:txBody>
      </p:sp>
      <p:sp>
        <p:nvSpPr>
          <p:cNvPr id="7" name="Item 8" data-pipeline-marker="batch0_proven"/>
          <p:cNvSpPr txBox="1"/>
          <p:nvPr/>
        </p:nvSpPr>
        <p:spPr>
          <a:xfrm>
            <a:off x="1371600" y="1372225"/>
            <a:ext cx="1151331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ability to do so. </a:t>
            </a:r>
          </a:p>
        </p:txBody>
      </p:sp>
      <p:sp>
        <p:nvSpPr>
          <p:cNvPr id="8" name="Item 9" data-pipeline-marker="batch0_proven"/>
          <p:cNvSpPr txBox="1"/>
          <p:nvPr/>
        </p:nvSpPr>
        <p:spPr>
          <a:xfrm>
            <a:off x="914400" y="1556962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9" name="Item 10" data-pipeline-marker="batch0_proven"/>
          <p:cNvSpPr txBox="1"/>
          <p:nvPr/>
        </p:nvSpPr>
        <p:spPr>
          <a:xfrm>
            <a:off x="1143000" y="1741700"/>
            <a:ext cx="632358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According to the “Swiss cheese model”, which statement best describes effective safety </a:t>
            </a:r>
          </a:p>
        </p:txBody>
      </p:sp>
      <p:sp>
        <p:nvSpPr>
          <p:cNvPr id="10" name="Item 11" data-pipeline-marker="batch0_proven"/>
          <p:cNvSpPr txBox="1"/>
          <p:nvPr/>
        </p:nvSpPr>
        <p:spPr>
          <a:xfrm>
            <a:off x="1371600" y="1926437"/>
            <a:ext cx="74478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design?  </a:t>
            </a:r>
          </a:p>
        </p:txBody>
      </p:sp>
      <p:sp>
        <p:nvSpPr>
          <p:cNvPr id="11" name="Item 12" data-pipeline-marker="batch0_proven"/>
          <p:cNvSpPr txBox="1"/>
          <p:nvPr/>
        </p:nvSpPr>
        <p:spPr>
          <a:xfrm>
            <a:off x="1600200" y="2111175"/>
            <a:ext cx="3512261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 Rely on a single, highly robust safety mechanism  </a:t>
            </a:r>
          </a:p>
        </p:txBody>
      </p:sp>
      <p:sp>
        <p:nvSpPr>
          <p:cNvPr id="12" name="Item 13" data-pipeline-marker="batch0_proven"/>
          <p:cNvSpPr txBox="1"/>
          <p:nvPr/>
        </p:nvSpPr>
        <p:spPr>
          <a:xfrm>
            <a:off x="1600200" y="2295913"/>
            <a:ext cx="407888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 Implement safety measures randomly across the system  </a:t>
            </a:r>
          </a:p>
        </p:txBody>
      </p:sp>
      <p:sp>
        <p:nvSpPr>
          <p:cNvPr id="13" name="Item 14" data-pipeline-marker="batch0_proven"/>
          <p:cNvSpPr txBox="1"/>
          <p:nvPr/>
        </p:nvSpPr>
        <p:spPr>
          <a:xfrm>
            <a:off x="1600200" y="2480650"/>
            <a:ext cx="553176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c. Use multiple layers of defense so that individual weaknesses are compensated </a:t>
            </a:r>
          </a:p>
        </p:txBody>
      </p:sp>
      <p:sp>
        <p:nvSpPr>
          <p:cNvPr id="14" name="Item 15" data-pipeline-marker="batch0_proven"/>
          <p:cNvSpPr txBox="1"/>
          <p:nvPr/>
        </p:nvSpPr>
        <p:spPr>
          <a:xfrm>
            <a:off x="1828800" y="2665388"/>
            <a:ext cx="83005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by others  </a:t>
            </a:r>
          </a:p>
        </p:txBody>
      </p:sp>
      <p:sp>
        <p:nvSpPr>
          <p:cNvPr id="15" name="Item 16" data-pipeline-marker="batch0_proven"/>
          <p:cNvSpPr txBox="1"/>
          <p:nvPr/>
        </p:nvSpPr>
        <p:spPr>
          <a:xfrm>
            <a:off x="1600200" y="2850125"/>
            <a:ext cx="432224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Eliminate safety measures if the AI system is well-designed  </a:t>
            </a:r>
          </a:p>
        </p:txBody>
      </p:sp>
      <p:sp>
        <p:nvSpPr>
          <p:cNvPr id="16" name="Item 17" data-pipeline-marker="batch0_proven"/>
          <p:cNvSpPr txBox="1"/>
          <p:nvPr/>
        </p:nvSpPr>
        <p:spPr>
          <a:xfrm>
            <a:off x="1828800" y="3034863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7" name="Item 18" data-pipeline-marker="batch0_proven"/>
          <p:cNvSpPr txBox="1"/>
          <p:nvPr/>
        </p:nvSpPr>
        <p:spPr>
          <a:xfrm>
            <a:off x="1371600" y="3219600"/>
            <a:ext cx="5226660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Risk Part 3 [8:18-10:48] - The Swiss Cheese model shows how </a:t>
            </a:r>
          </a:p>
        </p:txBody>
      </p:sp>
      <p:sp>
        <p:nvSpPr>
          <p:cNvPr id="18" name="Item 19" data-pipeline-marker="batch0_proven"/>
          <p:cNvSpPr txBox="1"/>
          <p:nvPr/>
        </p:nvSpPr>
        <p:spPr>
          <a:xfrm>
            <a:off x="1371600" y="3404338"/>
            <a:ext cx="5426431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technical factors can improve organizational safety. Multiple layers of defense </a:t>
            </a:r>
          </a:p>
        </p:txBody>
      </p:sp>
      <p:sp>
        <p:nvSpPr>
          <p:cNvPr id="19" name="Item 20" data-pipeline-marker="batch0_proven"/>
          <p:cNvSpPr txBox="1"/>
          <p:nvPr/>
        </p:nvSpPr>
        <p:spPr>
          <a:xfrm>
            <a:off x="1371600" y="3589076"/>
            <a:ext cx="6131077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compensate for each other’s individual weaknesses, leading to a low overall level of risk.  </a:t>
            </a:r>
          </a:p>
        </p:txBody>
      </p:sp>
      <p:sp>
        <p:nvSpPr>
          <p:cNvPr id="20" name="Item 21" data-pipeline-marker="batch0_proven"/>
          <p:cNvSpPr txBox="1"/>
          <p:nvPr/>
        </p:nvSpPr>
        <p:spPr>
          <a:xfrm>
            <a:off x="1828800" y="3773813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1" name="Item 22" data-pipeline-marker="batch0_proven"/>
          <p:cNvSpPr txBox="1"/>
          <p:nvPr/>
        </p:nvSpPr>
        <p:spPr>
          <a:xfrm>
            <a:off x="1143000" y="3958551"/>
            <a:ext cx="6232779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7. According to the lecture, what are the potential “double-edged sword” risks associated </a:t>
            </a:r>
          </a:p>
        </p:txBody>
      </p:sp>
      <p:sp>
        <p:nvSpPr>
          <p:cNvPr id="22" name="Item 23" data-pipeline-marker="batch0_proven"/>
          <p:cNvSpPr txBox="1"/>
          <p:nvPr/>
        </p:nvSpPr>
        <p:spPr>
          <a:xfrm>
            <a:off x="1371600" y="4143288"/>
            <a:ext cx="382099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with AI in military applications?  </a:t>
            </a:r>
            <a:r>
              <a:rPr lang="en-US" sz="1100" b="1" i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(Select all that apply.)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3" name="Item 24" data-pipeline-marker="batch0_proven"/>
          <p:cNvSpPr txBox="1"/>
          <p:nvPr/>
        </p:nvSpPr>
        <p:spPr>
          <a:xfrm>
            <a:off x="1600200" y="4328026"/>
            <a:ext cx="415152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a. Autonomous weapons targeting humans with high precision </a:t>
            </a:r>
          </a:p>
        </p:txBody>
      </p:sp>
      <p:sp>
        <p:nvSpPr>
          <p:cNvPr id="24" name="Item 25" data-pipeline-marker="batch0_proven"/>
          <p:cNvSpPr txBox="1"/>
          <p:nvPr/>
        </p:nvSpPr>
        <p:spPr>
          <a:xfrm>
            <a:off x="1600200" y="4512763"/>
            <a:ext cx="493608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b. Complete elimination of the need for human strategic decision-making  </a:t>
            </a:r>
          </a:p>
        </p:txBody>
      </p:sp>
      <p:sp>
        <p:nvSpPr>
          <p:cNvPr id="25" name="Item 26" data-pipeline-marker="batch0_proven"/>
          <p:cNvSpPr txBox="1"/>
          <p:nvPr/>
        </p:nvSpPr>
        <p:spPr>
          <a:xfrm>
            <a:off x="1600200" y="4697501"/>
            <a:ext cx="330885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c. Lowering the barriers to large-scale violence </a:t>
            </a:r>
          </a:p>
        </p:txBody>
      </p:sp>
      <p:sp>
        <p:nvSpPr>
          <p:cNvPr id="26" name="Item 27" data-pipeline-marker="batch0_proven"/>
          <p:cNvSpPr txBox="1"/>
          <p:nvPr/>
        </p:nvSpPr>
        <p:spPr>
          <a:xfrm>
            <a:off x="1600200" y="4882238"/>
            <a:ext cx="5030521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d. Autonomous retaliation systems increasing the risk of rapid escalation </a:t>
            </a:r>
          </a:p>
        </p:txBody>
      </p:sp>
      <p:sp>
        <p:nvSpPr>
          <p:cNvPr id="27" name="Item 28" data-pipeline-marker="batch0_proven"/>
          <p:cNvSpPr txBox="1"/>
          <p:nvPr/>
        </p:nvSpPr>
        <p:spPr>
          <a:xfrm>
            <a:off x="1828800" y="5066976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8" name="Item 29" data-pipeline-marker="batch0_proven"/>
          <p:cNvSpPr txBox="1"/>
          <p:nvPr/>
        </p:nvSpPr>
        <p:spPr>
          <a:xfrm>
            <a:off x="1371600" y="5251714"/>
            <a:ext cx="5862295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Risk Part 3 [1:02-2:55] - Low-cost automated weapons, such as drone </a:t>
            </a:r>
          </a:p>
        </p:txBody>
      </p:sp>
      <p:sp>
        <p:nvSpPr>
          <p:cNvPr id="29" name="Item 30" data-pipeline-marker="batch0_proven"/>
          <p:cNvSpPr txBox="1"/>
          <p:nvPr/>
        </p:nvSpPr>
        <p:spPr>
          <a:xfrm>
            <a:off x="1371600" y="5436451"/>
            <a:ext cx="5753329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swarms outfitted with explosives, could autonomously hunt human targets with high </a:t>
            </a:r>
          </a:p>
        </p:txBody>
      </p:sp>
      <p:sp>
        <p:nvSpPr>
          <p:cNvPr id="30" name="Item 31" data-pipeline-marker="batch0_proven"/>
          <p:cNvSpPr txBox="1"/>
          <p:nvPr/>
        </p:nvSpPr>
        <p:spPr>
          <a:xfrm>
            <a:off x="1371600" y="5621189"/>
            <a:ext cx="574969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precision, performing lethal operations for both militaries and terrorist groups and </a:t>
            </a:r>
          </a:p>
        </p:txBody>
      </p:sp>
      <p:sp>
        <p:nvSpPr>
          <p:cNvPr id="31" name="Item 32" data-pipeline-marker="batch0_proven"/>
          <p:cNvSpPr txBox="1"/>
          <p:nvPr/>
        </p:nvSpPr>
        <p:spPr>
          <a:xfrm>
            <a:off x="1371600" y="5805926"/>
            <a:ext cx="312361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lowering the barriers to large-scale violence. </a:t>
            </a:r>
          </a:p>
        </p:txBody>
      </p:sp>
      <p:sp>
        <p:nvSpPr>
          <p:cNvPr id="32" name="Item 33" data-pipeline-marker="batch0_proven"/>
          <p:cNvSpPr txBox="1"/>
          <p:nvPr/>
        </p:nvSpPr>
        <p:spPr>
          <a:xfrm>
            <a:off x="1828800" y="5990664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3" name="Item 34" data-pipeline-marker="batch0_proven"/>
          <p:cNvSpPr txBox="1"/>
          <p:nvPr/>
        </p:nvSpPr>
        <p:spPr>
          <a:xfrm>
            <a:off x="1143000" y="6175401"/>
            <a:ext cx="629089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8. Which of the following are considered speculative hazards of AI? </a:t>
            </a:r>
            <a:r>
              <a:rPr lang="en-US" sz="1100" b="1" i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(Select all that apply.) </a:t>
            </a:r>
          </a:p>
        </p:txBody>
      </p:sp>
      <p:sp>
        <p:nvSpPr>
          <p:cNvPr id="34" name="Item 35" data-pipeline-marker="batch0_proven"/>
          <p:cNvSpPr txBox="1"/>
          <p:nvPr/>
        </p:nvSpPr>
        <p:spPr>
          <a:xfrm>
            <a:off x="1600200" y="6360139"/>
            <a:ext cx="1536601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a. Eroded Epistemics </a:t>
            </a:r>
          </a:p>
        </p:txBody>
      </p:sp>
      <p:sp>
        <p:nvSpPr>
          <p:cNvPr id="35" name="Item 36" data-pipeline-marker="batch0_proven"/>
          <p:cNvSpPr txBox="1"/>
          <p:nvPr/>
        </p:nvSpPr>
        <p:spPr>
          <a:xfrm>
            <a:off x="1600200" y="6544876"/>
            <a:ext cx="123400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b. Enfeeblement </a:t>
            </a:r>
          </a:p>
        </p:txBody>
      </p:sp>
      <p:sp>
        <p:nvSpPr>
          <p:cNvPr id="36" name="Item 37" data-pipeline-marker="batch0_proven"/>
          <p:cNvSpPr txBox="1"/>
          <p:nvPr/>
        </p:nvSpPr>
        <p:spPr>
          <a:xfrm>
            <a:off x="1600200" y="6729614"/>
            <a:ext cx="164533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c. Deceptive Alignment </a:t>
            </a:r>
          </a:p>
        </p:txBody>
      </p:sp>
      <p:sp>
        <p:nvSpPr>
          <p:cNvPr id="37" name="Item 38" data-pipeline-marker="batch0_proven"/>
          <p:cNvSpPr txBox="1"/>
          <p:nvPr/>
        </p:nvSpPr>
        <p:spPr>
          <a:xfrm>
            <a:off x="1600200" y="6914352"/>
            <a:ext cx="1777460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d. Hardware Degradation </a:t>
            </a:r>
          </a:p>
        </p:txBody>
      </p:sp>
      <p:sp>
        <p:nvSpPr>
          <p:cNvPr id="38" name="Item 39" data-pipeline-marker="batch0_proven"/>
          <p:cNvSpPr txBox="1"/>
          <p:nvPr/>
        </p:nvSpPr>
        <p:spPr>
          <a:xfrm>
            <a:off x="1828800" y="7099089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9" name="Item 40" data-pipeline-marker="batch0_proven"/>
          <p:cNvSpPr txBox="1"/>
          <p:nvPr/>
        </p:nvSpPr>
        <p:spPr>
          <a:xfrm>
            <a:off x="1371600" y="7283827"/>
            <a:ext cx="5934939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 146 in the week’s lecture notes lists speculative hazards and failure </a:t>
            </a:r>
          </a:p>
        </p:txBody>
      </p:sp>
      <p:sp>
        <p:nvSpPr>
          <p:cNvPr id="40" name="Item 41" data-pipeline-marker="batch0_proven"/>
          <p:cNvSpPr txBox="1"/>
          <p:nvPr/>
        </p:nvSpPr>
        <p:spPr>
          <a:xfrm>
            <a:off x="1371600" y="7468564"/>
            <a:ext cx="71354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modes.  </a:t>
            </a:r>
          </a:p>
        </p:txBody>
      </p:sp>
      <p:sp>
        <p:nvSpPr>
          <p:cNvPr id="41" name="Item 42" data-pipeline-marker="batch0_proven"/>
          <p:cNvSpPr txBox="1"/>
          <p:nvPr/>
        </p:nvSpPr>
        <p:spPr>
          <a:xfrm>
            <a:off x="1828800" y="7653302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42" name="Item 43" data-pipeline-marker="batch0_proven"/>
          <p:cNvSpPr txBox="1"/>
          <p:nvPr/>
        </p:nvSpPr>
        <p:spPr>
          <a:xfrm>
            <a:off x="1143000" y="7838039"/>
            <a:ext cx="5070475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9. The Disaster Risk Equation can be mitigated by </a:t>
            </a:r>
            <a:r>
              <a:rPr lang="en-US" sz="1100" b="1" i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(Select all that apply.)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</a:p>
        </p:txBody>
      </p:sp>
      <p:sp>
        <p:nvSpPr>
          <p:cNvPr id="43" name="Item 44" data-pipeline-marker="batch0_proven"/>
          <p:cNvSpPr txBox="1"/>
          <p:nvPr/>
        </p:nvSpPr>
        <p:spPr>
          <a:xfrm>
            <a:off x="1600200" y="8022777"/>
            <a:ext cx="378467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a. Improving agents’ robustness to withstand hazards  </a:t>
            </a:r>
          </a:p>
        </p:txBody>
      </p:sp>
      <p:sp>
        <p:nvSpPr>
          <p:cNvPr id="44" name="Item 45" data-pipeline-marker="batch0_proven"/>
          <p:cNvSpPr txBox="1"/>
          <p:nvPr/>
        </p:nvSpPr>
        <p:spPr>
          <a:xfrm>
            <a:off x="1600200" y="8207515"/>
            <a:ext cx="424596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b. Identifying and mitigating hazards before they cause harm  </a:t>
            </a:r>
          </a:p>
        </p:txBody>
      </p:sp>
      <p:sp>
        <p:nvSpPr>
          <p:cNvPr id="45" name="Item 46" data-pipeline-marker="batch0_proven"/>
          <p:cNvSpPr txBox="1"/>
          <p:nvPr/>
        </p:nvSpPr>
        <p:spPr>
          <a:xfrm>
            <a:off x="1600200" y="8392252"/>
            <a:ext cx="4285920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c. Increasing the number of parameters to drown out errors </a:t>
            </a:r>
          </a:p>
        </p:txBody>
      </p:sp>
      <p:sp>
        <p:nvSpPr>
          <p:cNvPr id="46" name="Item 47" data-pipeline-marker="batch0_proven"/>
          <p:cNvSpPr txBox="1"/>
          <p:nvPr/>
        </p:nvSpPr>
        <p:spPr>
          <a:xfrm>
            <a:off x="1600200" y="8576990"/>
            <a:ext cx="3915435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d. Reducing the severity of inherent model vulnerabilities  </a:t>
            </a:r>
          </a:p>
        </p:txBody>
      </p:sp>
      <p:sp>
        <p:nvSpPr>
          <p:cNvPr id="47" name="Item 48" data-pipeline-marker="batch0_proven"/>
          <p:cNvSpPr txBox="1"/>
          <p:nvPr/>
        </p:nvSpPr>
        <p:spPr>
          <a:xfrm>
            <a:off x="1828800" y="8761727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48" name="Item 49" data-pipeline-marker="batch0_proven"/>
          <p:cNvSpPr txBox="1"/>
          <p:nvPr/>
        </p:nvSpPr>
        <p:spPr>
          <a:xfrm>
            <a:off x="1371600" y="8946465"/>
            <a:ext cx="519033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Risk Part 3 [29:45-34:02] - Each component has one way to </a:t>
            </a:r>
          </a:p>
        </p:txBody>
      </p:sp>
      <p:sp>
        <p:nvSpPr>
          <p:cNvPr id="49" name="Item 50" data-pipeline-marker="batch0_proven"/>
          <p:cNvSpPr txBox="1"/>
          <p:nvPr/>
        </p:nvSpPr>
        <p:spPr>
          <a:xfrm>
            <a:off x="1371600" y="9131202"/>
            <a:ext cx="5557190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mitigate/reduce it. Vulnerability: Robustness; Hazard Exposure: Monitoring; Hazard: </a:t>
            </a:r>
          </a:p>
        </p:txBody>
      </p:sp>
      <p:sp>
        <p:nvSpPr>
          <p:cNvPr id="50" name="Item 51" data-pipeline-marker="batch0_proven"/>
          <p:cNvSpPr txBox="1"/>
          <p:nvPr/>
        </p:nvSpPr>
        <p:spPr>
          <a:xfrm>
            <a:off x="1371600" y="9315940"/>
            <a:ext cx="876172" cy="168275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Alignment.</a:t>
            </a:r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tem 3" data-pipeline-marker="batch0_proven"/>
          <p:cNvSpPr txBox="1"/>
          <p:nvPr/>
        </p:nvSpPr>
        <p:spPr>
          <a:xfrm>
            <a:off x="1828800" y="448537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" name="Item 4" data-pipeline-marker="batch0_proven"/>
          <p:cNvSpPr txBox="1"/>
          <p:nvPr/>
        </p:nvSpPr>
        <p:spPr>
          <a:xfrm>
            <a:off x="1143000" y="633275"/>
            <a:ext cx="635627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10. Which risk refers to humans voluntarily ceding control of socio-economic functions to AI </a:t>
            </a:r>
          </a:p>
        </p:txBody>
      </p:sp>
      <p:sp>
        <p:nvSpPr>
          <p:cNvPr id="4" name="Item 5" data-pipeline-marker="batch0_proven"/>
          <p:cNvSpPr txBox="1"/>
          <p:nvPr/>
        </p:nvSpPr>
        <p:spPr>
          <a:xfrm>
            <a:off x="1371600" y="818012"/>
            <a:ext cx="268775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keep up with the automated world?  </a:t>
            </a:r>
          </a:p>
        </p:txBody>
      </p:sp>
      <p:sp>
        <p:nvSpPr>
          <p:cNvPr id="5" name="Item 6" data-pipeline-marker="batch0_proven"/>
          <p:cNvSpPr txBox="1"/>
          <p:nvPr/>
        </p:nvSpPr>
        <p:spPr>
          <a:xfrm>
            <a:off x="1600200" y="1002750"/>
            <a:ext cx="1536601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 Eroded Epistemics </a:t>
            </a:r>
          </a:p>
        </p:txBody>
      </p:sp>
      <p:sp>
        <p:nvSpPr>
          <p:cNvPr id="6" name="Item 7" data-pipeline-marker="batch0_proven"/>
          <p:cNvSpPr txBox="1"/>
          <p:nvPr/>
        </p:nvSpPr>
        <p:spPr>
          <a:xfrm>
            <a:off x="1600200" y="1187487"/>
            <a:ext cx="1653177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 Deceptive Alignment </a:t>
            </a:r>
          </a:p>
        </p:txBody>
      </p:sp>
      <p:sp>
        <p:nvSpPr>
          <p:cNvPr id="7" name="Item 8" data-pipeline-marker="batch0_proven"/>
          <p:cNvSpPr txBox="1"/>
          <p:nvPr/>
        </p:nvSpPr>
        <p:spPr>
          <a:xfrm>
            <a:off x="1600200" y="1372225"/>
            <a:ext cx="124915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Proxy Gaming </a:t>
            </a:r>
          </a:p>
        </p:txBody>
      </p:sp>
      <p:sp>
        <p:nvSpPr>
          <p:cNvPr id="8" name="Item 9" data-pipeline-marker="batch0_proven"/>
          <p:cNvSpPr txBox="1"/>
          <p:nvPr/>
        </p:nvSpPr>
        <p:spPr>
          <a:xfrm>
            <a:off x="1600200" y="1556962"/>
            <a:ext cx="123400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d. Enfeeblement </a:t>
            </a:r>
          </a:p>
        </p:txBody>
      </p:sp>
      <p:sp>
        <p:nvSpPr>
          <p:cNvPr id="9" name="Item 10" data-pipeline-marker="batch0_proven"/>
          <p:cNvSpPr txBox="1"/>
          <p:nvPr/>
        </p:nvSpPr>
        <p:spPr>
          <a:xfrm>
            <a:off x="1828800" y="1741700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0" name="Item 11" data-pipeline-marker="batch0_proven"/>
          <p:cNvSpPr txBox="1"/>
          <p:nvPr/>
        </p:nvSpPr>
        <p:spPr>
          <a:xfrm>
            <a:off x="1371600" y="1926437"/>
            <a:ext cx="597489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Risk Part 3 [2:57-3:44] - As AIs automate increasingly many tasks, the </a:t>
            </a:r>
          </a:p>
        </p:txBody>
      </p:sp>
      <p:sp>
        <p:nvSpPr>
          <p:cNvPr id="11" name="Item 12" data-pipeline-marker="batch0_proven"/>
          <p:cNvSpPr txBox="1"/>
          <p:nvPr/>
        </p:nvSpPr>
        <p:spPr>
          <a:xfrm>
            <a:off x="1371600" y="2111175"/>
            <a:ext cx="526661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economy may become largely run by AIs. Eventually, this could lead to human </a:t>
            </a:r>
          </a:p>
        </p:txBody>
      </p:sp>
      <p:sp>
        <p:nvSpPr>
          <p:cNvPr id="12" name="Item 13" data-pipeline-marker="batch0_proven"/>
          <p:cNvSpPr txBox="1"/>
          <p:nvPr/>
        </p:nvSpPr>
        <p:spPr>
          <a:xfrm>
            <a:off x="1371600" y="2295913"/>
            <a:ext cx="3686607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enfeeblement and dependence on AIs for basic needs. </a:t>
            </a:r>
          </a:p>
        </p:txBody>
      </p:sp>
      <p:sp>
        <p:nvSpPr>
          <p:cNvPr id="13" name="Item 14" data-pipeline-marker="batch0_proven"/>
          <p:cNvSpPr txBox="1"/>
          <p:nvPr/>
        </p:nvSpPr>
        <p:spPr>
          <a:xfrm>
            <a:off x="1828800" y="2480650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14" name="Item 15" data-pipeline-marker="batch0_proven"/>
          <p:cNvSpPr txBox="1"/>
          <p:nvPr/>
        </p:nvSpPr>
        <p:spPr>
          <a:xfrm>
            <a:off x="1143000" y="2665388"/>
            <a:ext cx="617466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11. In the risk decomposition framework, which combination of factors would result in the </a:t>
            </a:r>
          </a:p>
        </p:txBody>
      </p:sp>
      <p:sp>
        <p:nvSpPr>
          <p:cNvPr id="15" name="Item 16" data-pipeline-marker="batch0_proven"/>
          <p:cNvSpPr txBox="1"/>
          <p:nvPr/>
        </p:nvSpPr>
        <p:spPr>
          <a:xfrm>
            <a:off x="1371600" y="2850125"/>
            <a:ext cx="237412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HIGHEST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 from an AI system?  </a:t>
            </a:r>
          </a:p>
        </p:txBody>
      </p:sp>
      <p:sp>
        <p:nvSpPr>
          <p:cNvPr id="16" name="Item 17" data-pipeline-marker="batch0_proven"/>
          <p:cNvSpPr txBox="1"/>
          <p:nvPr/>
        </p:nvSpPr>
        <p:spPr>
          <a:xfrm>
            <a:off x="1600200" y="3034863"/>
            <a:ext cx="439125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a. High vulnerability, high hazard exposure, high hazard severity. </a:t>
            </a:r>
          </a:p>
        </p:txBody>
      </p:sp>
      <p:sp>
        <p:nvSpPr>
          <p:cNvPr id="17" name="Item 18" data-pipeline-marker="batch0_proven"/>
          <p:cNvSpPr txBox="1"/>
          <p:nvPr/>
        </p:nvSpPr>
        <p:spPr>
          <a:xfrm>
            <a:off x="1600200" y="3219600"/>
            <a:ext cx="4336771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 Low vulnerability, high hazard exposure, low hazard severity. </a:t>
            </a:r>
          </a:p>
        </p:txBody>
      </p:sp>
      <p:sp>
        <p:nvSpPr>
          <p:cNvPr id="18" name="Item 19" data-pipeline-marker="batch0_proven"/>
          <p:cNvSpPr txBox="1"/>
          <p:nvPr/>
        </p:nvSpPr>
        <p:spPr>
          <a:xfrm>
            <a:off x="1600200" y="3404338"/>
            <a:ext cx="4336771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Low vulnerability, low hazard exposure, high hazard severity. </a:t>
            </a:r>
          </a:p>
        </p:txBody>
      </p:sp>
      <p:sp>
        <p:nvSpPr>
          <p:cNvPr id="19" name="Item 20" data-pipeline-marker="batch0_proven"/>
          <p:cNvSpPr txBox="1"/>
          <p:nvPr/>
        </p:nvSpPr>
        <p:spPr>
          <a:xfrm>
            <a:off x="1600200" y="3589076"/>
            <a:ext cx="4344035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d. High vulnerability, low hazard exposure, high hazard severity.  </a:t>
            </a:r>
          </a:p>
        </p:txBody>
      </p:sp>
      <p:sp>
        <p:nvSpPr>
          <p:cNvPr id="20" name="Item 21" data-pipeline-marker="batch0_proven"/>
          <p:cNvSpPr txBox="1"/>
          <p:nvPr/>
        </p:nvSpPr>
        <p:spPr>
          <a:xfrm>
            <a:off x="1828800" y="3773813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1" name="Item 22" data-pipeline-marker="batch0_proven"/>
          <p:cNvSpPr txBox="1"/>
          <p:nvPr/>
        </p:nvSpPr>
        <p:spPr>
          <a:xfrm>
            <a:off x="1371600" y="3958551"/>
            <a:ext cx="5451856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 107 in the week’s lecture notes shows the risk decomposition </a:t>
            </a:r>
          </a:p>
        </p:txBody>
      </p:sp>
      <p:sp>
        <p:nvSpPr>
          <p:cNvPr id="22" name="Item 23" data-pipeline-marker="batch0_proven"/>
          <p:cNvSpPr txBox="1"/>
          <p:nvPr/>
        </p:nvSpPr>
        <p:spPr>
          <a:xfrm>
            <a:off x="1371600" y="4143288"/>
            <a:ext cx="5934939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equation as a multiplicative (non-linear) equation. Increasing one increases the overall </a:t>
            </a:r>
          </a:p>
        </p:txBody>
      </p:sp>
      <p:sp>
        <p:nvSpPr>
          <p:cNvPr id="23" name="Item 24" data-pipeline-marker="batch0_proven"/>
          <p:cNvSpPr txBox="1"/>
          <p:nvPr/>
        </p:nvSpPr>
        <p:spPr>
          <a:xfrm>
            <a:off x="1371600" y="4328026"/>
            <a:ext cx="511497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risk.  </a:t>
            </a:r>
          </a:p>
        </p:txBody>
      </p:sp>
      <p:sp>
        <p:nvSpPr>
          <p:cNvPr id="24" name="Item 25" data-pipeline-marker="batch0_proven"/>
          <p:cNvSpPr txBox="1"/>
          <p:nvPr/>
        </p:nvSpPr>
        <p:spPr>
          <a:xfrm>
            <a:off x="1828800" y="4512763"/>
            <a:ext cx="216613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25" name="Item 26" data-pipeline-marker="batch0_proven"/>
          <p:cNvSpPr txBox="1"/>
          <p:nvPr/>
        </p:nvSpPr>
        <p:spPr>
          <a:xfrm>
            <a:off x="1143000" y="4697501"/>
            <a:ext cx="5466385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12. According to the lecture, which of the following about the AI race is true? </a:t>
            </a:r>
          </a:p>
        </p:txBody>
      </p:sp>
      <p:sp>
        <p:nvSpPr>
          <p:cNvPr id="26" name="Item 27" data-pipeline-marker="batch0_proven"/>
          <p:cNvSpPr txBox="1"/>
          <p:nvPr/>
        </p:nvSpPr>
        <p:spPr>
          <a:xfrm>
            <a:off x="1600200" y="4882238"/>
            <a:ext cx="4652772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a. AI systems naturally become safer as they grow more powerful.  </a:t>
            </a:r>
          </a:p>
        </p:txBody>
      </p:sp>
      <p:sp>
        <p:nvSpPr>
          <p:cNvPr id="27" name="Item 28" data-pipeline-marker="batch0_proven"/>
          <p:cNvSpPr txBox="1"/>
          <p:nvPr/>
        </p:nvSpPr>
        <p:spPr>
          <a:xfrm>
            <a:off x="1600200" y="5066976"/>
            <a:ext cx="436582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b. The AI race reduces the need for regulation and monitoring.  </a:t>
            </a:r>
          </a:p>
        </p:txBody>
      </p:sp>
      <p:sp>
        <p:nvSpPr>
          <p:cNvPr id="28" name="Item 29" data-pipeline-marker="batch0_proven"/>
          <p:cNvSpPr txBox="1"/>
          <p:nvPr/>
        </p:nvSpPr>
        <p:spPr>
          <a:xfrm>
            <a:off x="1600200" y="5251714"/>
            <a:ext cx="5811444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c. It ensures faster AI development that guarantees equal benefits for all nations.  </a:t>
            </a:r>
          </a:p>
        </p:txBody>
      </p:sp>
      <p:sp>
        <p:nvSpPr>
          <p:cNvPr id="29" name="Item 30" data-pipeline-marker="batch0_proven"/>
          <p:cNvSpPr txBox="1"/>
          <p:nvPr/>
        </p:nvSpPr>
        <p:spPr>
          <a:xfrm>
            <a:off x="1600200" y="5436451"/>
            <a:ext cx="5371948" cy="178388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d. AI competition may push to speed up development while giving up oversight. </a:t>
            </a:r>
          </a:p>
        </p:txBody>
      </p:sp>
      <p:sp>
        <p:nvSpPr>
          <p:cNvPr id="30" name="Item 31" data-pipeline-marker="batch0_proven"/>
          <p:cNvSpPr txBox="1"/>
          <p:nvPr/>
        </p:nvSpPr>
        <p:spPr>
          <a:xfrm>
            <a:off x="1828800" y="5621189"/>
            <a:ext cx="216613" cy="178389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31" name="Item 32" data-pipeline-marker="batch0_proven"/>
          <p:cNvSpPr txBox="1"/>
          <p:nvPr/>
        </p:nvSpPr>
        <p:spPr>
          <a:xfrm>
            <a:off x="1371600" y="5805928"/>
            <a:ext cx="5143119" cy="178386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Explanation: </a:t>
            </a:r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Risk Part 3 [0:20-1:01] - Competition could push nations and </a:t>
            </a:r>
          </a:p>
        </p:txBody>
      </p:sp>
      <p:sp>
        <p:nvSpPr>
          <p:cNvPr id="32" name="Item 33" data-pipeline-marker="batch0_proven"/>
          <p:cNvSpPr txBox="1"/>
          <p:nvPr/>
        </p:nvSpPr>
        <p:spPr>
          <a:xfrm>
            <a:off x="1371600" y="5990664"/>
            <a:ext cx="5288407" cy="178386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corporations to rush AI development, relinquishing control to these systems. </a:t>
            </a:r>
          </a:p>
        </p:txBody>
      </p:sp>
      <p:sp>
        <p:nvSpPr>
          <p:cNvPr id="33" name="Item 34" data-pipeline-marker="batch0_proven"/>
          <p:cNvSpPr txBox="1"/>
          <p:nvPr/>
        </p:nvSpPr>
        <p:spPr>
          <a:xfrm>
            <a:off x="1371600" y="6175400"/>
            <a:ext cx="216613" cy="168275"/>
          </a:xfrm>
        </p:spPr>
        <p:txBody>
          <a:bodyPr lIns="0" tIns="0" rIns="0" bIns="0" wrap="none">
            <a:spAutoFit/>
          </a:bodyPr>
          <a:lstStyle/>
          <a:p>
            <a:pPr algn="l"/>
            <a:r>
              <a:rPr lang="en-US" sz="1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48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creator>Filee Real Conversion Engine</dc:creator>
  <cp:lastModifiedBy>Filee Real Conversion Engine</cp:lastModifiedBy>
  <cp:revision>1</cp:revision>
  <cp:keywords>git:96fe0e4;build:2026-10-23T22:05:37.736Z;marker:BATCH0_LIVE_PATH_PROVEN;tools:engine=1.0.0,jszip=3.10.1</cp:keywords>
  <dc:description>Build: 96fe0e4 @ 2026-10-23T22:05:37.736Z [BATCH0_LIVE_PATH_PROVEN] Tools: Engine v1.0.0, JSZip v3.10.1</dc:description>
  <dcterms:created xsi:type="dcterms:W3CDTF">2026-10-23T22:05:37.736Z</dcterms:created>
  <dcterms:modified xsi:type="dcterms:W3CDTF">2026-10-23T22:05:37.736Z</dcterms:modified>
</cp:coreProperties>
</file>
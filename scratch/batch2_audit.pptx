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1272235" y="457200"/>
            <a:ext cx="5450434" cy="2286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600" b="1" i="0">
                <a:solidFill>
                  <a:srgbClr val="1A264C"/>
                </a:solidFill>
                <a:latin typeface="Arial"/>
                <a:ea typeface="Arial"/>
                <a:cs typeface="Arial"/>
              </a:rPr>
              <a:t>Batch 2 DOCX Format Replication &amp; Typography Audit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914400" y="952500"/>
            <a:ext cx="3618154" cy="1905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3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1. Overview of Structured Document Layout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914400" y="1295400"/>
            <a:ext cx="6459474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This specification establishes precision standards for converting complex PDF documents into Word Processing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914400" y="1473200"/>
            <a:ext cx="6241034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ML representations while faithfully preserving indentation hierarchies, inter-block gaps, and alignment types.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914400" y="1651000"/>
            <a:ext cx="3911854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All layout coordinates are calibrated to fractional typographic units.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914400" y="1981200"/>
            <a:ext cx="5890260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1.</a:t>
            </a:r>
            <a:r>
              <a:rPr lang="en-US" sz="10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First level numbered requirement establishing strict structural integrity criteria across all endpoints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1143000" y="2159000"/>
            <a:ext cx="5119243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ensuring that continuation lines automatically inherit the parent hanging indentation rule.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1143000" y="2413000"/>
            <a:ext cx="6629400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a.</a:t>
            </a:r>
            <a:r>
              <a:rPr lang="en-US" sz="10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Secondary nested sub-requirement defining cryptographic token validation protocols for distributed microservices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1371600" y="2590800"/>
            <a:ext cx="3389503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operating within air-gapped regional infrastructure nodes.</a:t>
            </a:r>
          </a:p>
        </p:txBody>
      </p:sp>
      <p:sp>
        <p:nvSpPr>
          <p:cNvPr id="11" name="Item 12" data-pipeline-marker="batch0_proven"/>
          <p:cNvSpPr txBox="1"/>
          <p:nvPr/>
        </p:nvSpPr>
        <p:spPr>
          <a:xfrm>
            <a:off x="1371600" y="2895600"/>
            <a:ext cx="4852022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Level 2 nested block indented at 108 pt demonstrating multi-tier indentation inheritance.</a:t>
            </a:r>
          </a:p>
        </p:txBody>
      </p:sp>
      <p:sp>
        <p:nvSpPr>
          <p:cNvPr id="12" name="Item 13" data-pipeline-marker="batch0_proven"/>
          <p:cNvSpPr txBox="1"/>
          <p:nvPr/>
        </p:nvSpPr>
        <p:spPr>
          <a:xfrm>
            <a:off x="1600200" y="3124200"/>
            <a:ext cx="4295464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Level 3 nested block indented at 126 pt proving discrete indent level tracking.</a:t>
            </a:r>
          </a:p>
        </p:txBody>
      </p:sp>
      <p:sp>
        <p:nvSpPr>
          <p:cNvPr id="13" name="Item 14" data-pipeline-marker="batch0_proven"/>
          <p:cNvSpPr txBox="1"/>
          <p:nvPr/>
        </p:nvSpPr>
        <p:spPr>
          <a:xfrm>
            <a:off x="1828800" y="3352800"/>
            <a:ext cx="4617237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1">
                <a:solidFill>
                  <a:srgbClr val="4C4C4C"/>
                </a:solidFill>
                <a:latin typeface="Arial"/>
                <a:ea typeface="Arial"/>
                <a:cs typeface="Arial"/>
              </a:rPr>
              <a:t>Level 4 nested block indented at 144 pt verifying maximum specified nesting depth.</a:t>
            </a:r>
          </a:p>
        </p:txBody>
      </p:sp>
      <p:sp>
        <p:nvSpPr>
          <p:cNvPr id="14" name="Item 15" data-pipeline-marker="batch0_proven"/>
          <p:cNvSpPr txBox="1"/>
          <p:nvPr/>
        </p:nvSpPr>
        <p:spPr>
          <a:xfrm>
            <a:off x="1143000" y="3708400"/>
            <a:ext cx="5965571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Explanation: This detailed commentary provides comprehensive insights into the underlying algorithmic</a:t>
            </a:r>
          </a:p>
        </p:txBody>
      </p:sp>
      <p:sp>
        <p:nvSpPr>
          <p:cNvPr id="15" name="Item 16" data-pipeline-marker="batch0_proven"/>
          <p:cNvSpPr txBox="1"/>
          <p:nvPr/>
        </p:nvSpPr>
        <p:spPr>
          <a:xfrm>
            <a:off x="914400" y="3886200"/>
            <a:ext cx="5852922" cy="1714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framework that guarantees parity between visual layout geometry and document semantics, ensuring</a:t>
            </a:r>
          </a:p>
        </p:txBody>
      </p:sp>
      <p:sp>
        <p:nvSpPr>
          <p:cNvPr id="16" name="Item 17" data-pipeline-marker="batch0_proven"/>
          <p:cNvSpPr txBox="1"/>
          <p:nvPr/>
        </p:nvSpPr>
        <p:spPr>
          <a:xfrm>
            <a:off x="914400" y="4064000"/>
            <a:ext cx="5768086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that exported Word documents maintain natural paragraph reflow across disparate viewing devices.</a:t>
            </a:r>
          </a:p>
        </p:txBody>
      </p:sp>
      <p:sp>
        <p:nvSpPr>
          <p:cNvPr id="17" name="Item 18" data-pipeline-marker="batch0_proven"/>
          <p:cNvSpPr txBox="1"/>
          <p:nvPr/>
        </p:nvSpPr>
        <p:spPr>
          <a:xfrm>
            <a:off x="4314819" y="4445000"/>
            <a:ext cx="2725807" cy="1587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4C4C4C"/>
                </a:solidFill>
                <a:latin typeface="Arial"/>
                <a:ea typeface="Arial"/>
                <a:cs typeface="Arial"/>
              </a:rPr>
              <a:t>Authorized by Chief Information Security Officer</a:t>
            </a:r>
          </a:p>
        </p:txBody>
      </p:sp>
      <p:sp>
        <p:nvSpPr>
          <p:cNvPr id="18" name="Item 19" data-pipeline-marker="batch0_proven"/>
          <p:cNvSpPr txBox="1"/>
          <p:nvPr/>
        </p:nvSpPr>
        <p:spPr>
          <a:xfrm>
            <a:off x="4232656" y="4610100"/>
            <a:ext cx="2799525" cy="1587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4C4C4C"/>
                </a:solidFill>
                <a:latin typeface="Arial"/>
                <a:ea typeface="Arial"/>
                <a:cs typeface="Arial"/>
              </a:rPr>
              <a:t>Division of Enterprise Architecture &amp; Governance</a:t>
            </a:r>
          </a:p>
        </p:txBody>
      </p:sp>
      <p:sp>
        <p:nvSpPr>
          <p:cNvPr id="19" name="Item 20" data-pipeline-marker="batch0_proven"/>
          <p:cNvSpPr txBox="1"/>
          <p:nvPr/>
        </p:nvSpPr>
        <p:spPr>
          <a:xfrm>
            <a:off x="5710498" y="4775200"/>
            <a:ext cx="133133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4C4C4C"/>
                </a:solidFill>
                <a:latin typeface="Arial"/>
                <a:ea typeface="Arial"/>
                <a:cs typeface="Arial"/>
              </a:rPr>
              <a:t>Issued: October 2026</a:t>
            </a:r>
          </a:p>
        </p:txBody>
      </p:sp>
      <p:sp>
        <p:nvSpPr>
          <p:cNvPr id="20" name="Item 21" data-pipeline-marker="batch0_proven"/>
          <p:cNvSpPr txBox="1"/>
          <p:nvPr/>
        </p:nvSpPr>
        <p:spPr>
          <a:xfrm>
            <a:off x="914400" y="5118100"/>
            <a:ext cx="1886242" cy="1587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9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Office of Document Verification</a:t>
            </a:r>
          </a:p>
        </p:txBody>
      </p:sp>
      <p:sp>
        <p:nvSpPr>
          <p:cNvPr id="21" name="Item 22" data-pipeline-marker="batch0_proven"/>
          <p:cNvSpPr txBox="1"/>
          <p:nvPr/>
        </p:nvSpPr>
        <p:spPr>
          <a:xfrm>
            <a:off x="914400" y="5283200"/>
            <a:ext cx="1855153" cy="15875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9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100 Technology Plaza, Suite 400</a:t>
            </a:r>
          </a:p>
        </p:txBody>
      </p:sp>
      <p:sp>
        <p:nvSpPr>
          <p:cNvPr id="22" name="Item 23" data-pipeline-marker="batch0_proven"/>
          <p:cNvSpPr txBox="1"/>
          <p:nvPr/>
        </p:nvSpPr>
        <p:spPr>
          <a:xfrm>
            <a:off x="914400" y="5448300"/>
            <a:ext cx="1550086" cy="13652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9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San Jose, California 95110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